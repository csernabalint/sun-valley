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d74f9885a74d1d" /><Relationship Type="http://schemas.openxmlformats.org/officeDocument/2006/relationships/extended-properties" Target="/docProps/app.xml" Id="R2f1e239548cb4cef" /><Relationship Type="http://schemas.openxmlformats.org/officeDocument/2006/relationships/officeDocument" Target="/ppt/presentation.xml" Id="R8eb2711d95b0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c29ddec364772"/>
  </p:sldMasterIdLst>
  <p:notesMasterIdLst>
    <p:notesMasterId xmlns:r="http://schemas.openxmlformats.org/officeDocument/2006/relationships" r:id="R2943981e012b490a"/>
  </p:notesMasterIdLst>
  <p:sldIdLst>
    <p:sldId xmlns:r="http://schemas.openxmlformats.org/officeDocument/2006/relationships" id="256" r:id="R837ef2561b9848c2"/>
    <p:sldId xmlns:r="http://schemas.openxmlformats.org/officeDocument/2006/relationships" id="257" r:id="Ra3aac225f46b41b5"/>
    <p:sldId xmlns:r="http://schemas.openxmlformats.org/officeDocument/2006/relationships" id="258" r:id="Rad0e031a93b34a6e"/>
    <p:sldId xmlns:r="http://schemas.openxmlformats.org/officeDocument/2006/relationships" id="259" r:id="R9fb12f0d61b6418d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c167eae745410c" /><Relationship Type="http://schemas.openxmlformats.org/officeDocument/2006/relationships/slideMaster" Target="/ppt/slideMasters/slideMaster1.xml" Id="R21bc29ddec364772" /><Relationship Type="http://schemas.openxmlformats.org/officeDocument/2006/relationships/notesMaster" Target="/ppt/notesMasters/notesMaster1.xml" Id="R2943981e012b490a" /><Relationship Type="http://schemas.openxmlformats.org/officeDocument/2006/relationships/presProps" Target="/ppt/presProps.xml" Id="R773986a5bda14e6b" /><Relationship Type="http://schemas.openxmlformats.org/officeDocument/2006/relationships/viewProps" Target="/ppt/viewProps.xml" Id="R4ea8a309b612481e" /><Relationship Type="http://schemas.openxmlformats.org/officeDocument/2006/relationships/tableStyles" Target="/ppt/tableStyles.xml" Id="Ra7335d6527464414" /><Relationship Type="http://schemas.openxmlformats.org/officeDocument/2006/relationships/slide" Target="/ppt/slides/slide1.xml" Id="R837ef2561b9848c2" /><Relationship Type="http://schemas.openxmlformats.org/officeDocument/2006/relationships/slide" Target="/ppt/slides/slide2.xml" Id="Ra3aac225f46b41b5" /><Relationship Type="http://schemas.openxmlformats.org/officeDocument/2006/relationships/slide" Target="/ppt/slides/slide3.xml" Id="Rad0e031a93b34a6e" /><Relationship Type="http://schemas.openxmlformats.org/officeDocument/2006/relationships/slide" Target="/ppt/slides/slide4.xml" Id="R9fb12f0d61b641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ef6182b35243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39e94b9f62471a" /><Relationship Type="http://schemas.openxmlformats.org/officeDocument/2006/relationships/notesMaster" Target="/ppt/notesMasters/notesMaster1.xml" Id="R09a93976b70c44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f43b13e88a4d7b" /><Relationship Type="http://schemas.openxmlformats.org/officeDocument/2006/relationships/notesMaster" Target="/ppt/notesMasters/notesMaster1.xml" Id="R94a912c37eee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83488aed7d414a" /><Relationship Type="http://schemas.openxmlformats.org/officeDocument/2006/relationships/notesMaster" Target="/ppt/notesMasters/notesMaster1.xml" Id="Rfe79732e2d95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52985f5af94e6b" /><Relationship Type="http://schemas.openxmlformats.org/officeDocument/2006/relationships/notesMaster" Target="/ppt/notesMasters/notesMaster1.xml" Id="R3e059c228a2243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User-attached Sun Valley four-page brochure, 2026-08-26.</a:t>
            </a:r>
            <a:endParaRPr/>
          </a:p>
          <a:p xmlns:a="http://schemas.openxmlformats.org/drawingml/2006/main">
            <a:r>
              <a:t>- User-approved apricot production-line image derived from the source deck image, 2026-08-26.</a:t>
            </a:r>
            <a:endParaRPr/>
          </a:p>
          <a:p xmlns:a="http://schemas.openxmlformats.org/drawingml/2006/main">
            <a:r>
              <a:t>- Customization list moved from page 3 at user request.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User-attached Sun Valley four-page brochure, 2026-08-26.</a:t>
            </a:r>
            <a:endParaRPr/>
          </a:p>
          <a:p xmlns:a="http://schemas.openxmlformats.org/drawingml/2006/main">
            <a:r>
              <a:t>- User-approved cream three-ribbon background derived from the source deck image, 2026-08-26.</a:t>
            </a:r>
            <a:endParaRPr/>
          </a:p>
          <a:p xmlns:a="http://schemas.openxmlformats.org/drawingml/2006/main">
            <a:r>
              <a:t>- Ribbon redesign: user IMG_0192.jpg sketch; generated edit preserving approved jam colors, 2026-08-31.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11d3743a147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40c38430a249c7" /><Relationship Type="http://schemas.openxmlformats.org/officeDocument/2006/relationships/slideLayout" Target="/ppt/slideLayouts/slideLayout1.xml" Id="R29ce4835de674b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ce4835de674b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894f4be004565" /><Relationship Type="http://schemas.openxmlformats.org/officeDocument/2006/relationships/image" Target="/ppt/media/image.png" Id="R3eeb0fee911c424d" /><Relationship Type="http://schemas.openxmlformats.org/officeDocument/2006/relationships/image" Target="/ppt/media/image2.png" Id="Re93e3c6365f04b8c" /><Relationship Type="http://schemas.openxmlformats.org/officeDocument/2006/relationships/notesSlide" Target="/ppt/notesSlides/notesSlide1.xml" Id="R475e1b7d8ade4d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4b004df134ce2" /><Relationship Type="http://schemas.openxmlformats.org/officeDocument/2006/relationships/image" Target="/ppt/media/image3.png" Id="Re53b9a6d389c4fb4" /><Relationship Type="http://schemas.openxmlformats.org/officeDocument/2006/relationships/image" Target="/ppt/media/image4.png" Id="R42515501bb3a49c2" /><Relationship Type="http://schemas.openxmlformats.org/officeDocument/2006/relationships/notesSlide" Target="/ppt/notesSlides/notesSlide2.xml" Id="R77429e96a4a04b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2c93e90f4485a" /><Relationship Type="http://schemas.openxmlformats.org/officeDocument/2006/relationships/image" Target="/ppt/media/image4.png" Id="Rf79288bc273e4a33" /><Relationship Type="http://schemas.openxmlformats.org/officeDocument/2006/relationships/image" Target="/ppt/media/image5.png" Id="R9b666372a962462b" /><Relationship Type="http://schemas.openxmlformats.org/officeDocument/2006/relationships/image" Target="/ppt/media/image6.png" Id="Rb64ba4f8e5b2401f" /><Relationship Type="http://schemas.openxmlformats.org/officeDocument/2006/relationships/notesSlide" Target="/ppt/notesSlides/notesSlide3.xml" Id="R9dfdfca25252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e3ab686cc40b1" /><Relationship Type="http://schemas.openxmlformats.org/officeDocument/2006/relationships/image" Target="/ppt/media/image7.png" Id="Rf508e9fc2fda45ac" /><Relationship Type="http://schemas.openxmlformats.org/officeDocument/2006/relationships/image" Target="/ppt/media/image2.png" Id="Rea79ec4b5d0e4857" /><Relationship Type="http://schemas.openxmlformats.org/officeDocument/2006/relationships/notesSlide" Target="/ppt/notesSlides/notesSlide4.xml" Id="R1e965dcc41d248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Kép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b0fee911c42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"/>
            <a:ext cx="7562850" cy="10696575"/>
          </a:xfrm>
          <a:prstGeom xmlns:a="http://schemas.openxmlformats.org/drawingml/2006/main" prst="rect">
            <a:avLst/>
          </a:prstGeom>
        </p:spPr>
      </p:pic>
      <p:pic>
        <p:nvPicPr>
          <p:cNvPr id="15" name="Kép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e3c6365f04b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28625"/>
            <a:ext cx="1638300" cy="1638300"/>
          </a:xfrm>
          <a:prstGeom xmlns:a="http://schemas.openxmlformats.org/drawingml/2006/main" prst="ellipse">
            <a:avLst/>
          </a:prstGeom>
        </p:spPr>
      </p:pic>
      <p:sp>
        <p:nvSpPr>
          <p:cNvPr id="3" name="Lekerekített téglalap 2">
            <a:extLst xmlns:a="http://schemas.openxmlformats.org/drawingml/2006/main">
              <a:ext uri="{FF2B5EF4-FFF2-40B4-BE49-F238E27FC236}">
                <a16:creationId xmlns:a16="http://schemas.microsoft.com/office/drawing/2014/main" id="{444569ED-FE13-40AB-AADD-59871D4E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4" y="6400240"/>
            <a:ext cx="3524250" cy="2820521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3E7D7"/>
          </a:solidFill>
          <a:ln xmlns:a="http://schemas.openxmlformats.org/drawingml/2006/main" w="9525">
            <a:solidFill>
              <a:srgbClr val="D5BD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églalap 3">
            <a:extLst xmlns:a="http://schemas.openxmlformats.org/drawingml/2006/main">
              <a:ext uri="{FF2B5EF4-FFF2-40B4-BE49-F238E27FC236}">
                <a16:creationId xmlns:a16="http://schemas.microsoft.com/office/drawing/2014/main" id="{9F60DCE1-31B5-4F75-9B7B-B9C826F4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76D3E"/>
                </a:solidFill>
              </a:defRPr>
            </a:pPr>
            <a:endParaRPr sz="1125" b="1">
              <a:solidFill>
                <a:srgbClr val="376D3E"/>
              </a:solidFill>
            </a:endParaRPr>
          </a:p>
        </p:txBody>
      </p:sp>
      <p:sp>
        <p:nvSpPr>
          <p:cNvPr id="5" name="Téglalap 4">
            <a:extLst xmlns:a="http://schemas.openxmlformats.org/drawingml/2006/main">
              <a:ext uri="{FF2B5EF4-FFF2-40B4-BE49-F238E27FC236}">
                <a16:creationId xmlns:a16="http://schemas.microsoft.com/office/drawing/2014/main" id="{724B5924-5482-42CE-AFD5-FED5F967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5" y="6539193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941334"/>
                </a:solidFill>
              </a:defRPr>
            </a:pPr>
            <a:r>
              <a:rPr sz="3450" b="1">
                <a:solidFill>
                  <a:srgbClr val="941334"/>
                </a:solidFill>
              </a:rPr>
              <a:t>Ipari</a:t>
            </a:r>
            <a:endParaRPr sz="3450" b="1">
              <a:solidFill>
                <a:srgbClr val="941334"/>
              </a:solidFill>
            </a:endParaRPr>
          </a:p>
          <a:p xmlns:a="http://schemas.openxmlformats.org/drawingml/2006/main">
            <a:pPr>
              <a:buNone/>
              <a:defRPr sz="3450" b="1">
                <a:solidFill>
                  <a:srgbClr val="941334"/>
                </a:solidFill>
              </a:defRPr>
            </a:pPr>
            <a:r>
              <a:rPr sz="3450" b="1">
                <a:solidFill>
                  <a:srgbClr val="941334"/>
                </a:solidFill>
              </a:rPr>
              <a:t>gyümölcs</a:t>
            </a:r>
            <a:r>
              <a:rPr sz="3450" b="1">
                <a:solidFill>
                  <a:srgbClr val="941334"/>
                </a:solidFill>
              </a:rPr>
              <a:t>-</a:t>
            </a:r>
          </a:p>
          <a:p xmlns:a="http://schemas.openxmlformats.org/drawingml/2006/main">
            <a:pPr>
              <a:buNone/>
              <a:defRPr sz="3450" b="1">
                <a:solidFill>
                  <a:srgbClr val="941334"/>
                </a:solidFill>
              </a:defRPr>
            </a:pPr>
            <a:r>
              <a:rPr sz="3450" b="1">
                <a:solidFill>
                  <a:srgbClr val="941334"/>
                </a:solidFill>
              </a:rPr>
              <a:t>töltelékek</a:t>
            </a:r>
            <a:endParaRPr sz="3450" b="1">
              <a:solidFill>
                <a:srgbClr val="941334"/>
              </a:solidFill>
            </a:endParaRPr>
          </a:p>
        </p:txBody>
      </p:sp>
      <p:sp>
        <p:nvSpPr>
          <p:cNvPr id="6" name="Téglalap 5">
            <a:extLst xmlns:a="http://schemas.openxmlformats.org/drawingml/2006/main">
              <a:ext uri="{FF2B5EF4-FFF2-40B4-BE49-F238E27FC236}">
                <a16:creationId xmlns:a16="http://schemas.microsoft.com/office/drawing/2014/main" id="{9A1414ED-33FA-4DD7-916D-F3C05ECF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8219517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églalap 8">
            <a:extLst xmlns:a="http://schemas.openxmlformats.org/drawingml/2006/main">
              <a:ext uri="{FF2B5EF4-FFF2-40B4-BE49-F238E27FC236}">
                <a16:creationId xmlns:a16="http://schemas.microsoft.com/office/drawing/2014/main" id="{A9D981AB-2013-409F-9B10-5ECFF20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220200"/>
            <a:ext cx="75628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églalap 9">
            <a:extLst xmlns:a="http://schemas.openxmlformats.org/drawingml/2006/main">
              <a:ext uri="{FF2B5EF4-FFF2-40B4-BE49-F238E27FC236}">
                <a16:creationId xmlns:a16="http://schemas.microsoft.com/office/drawing/2014/main" id="{B6EAB661-BD34-414F-9E92-43AB07EA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107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DF8"/>
                </a:solidFill>
              </a:defRPr>
            </a:pPr>
            <a:endParaRPr sz="2250" b="1">
              <a:solidFill>
                <a:srgbClr val="FFFDF8"/>
              </a:solidFill>
            </a:endParaRPr>
          </a:p>
        </p:txBody>
      </p:sp>
      <p:sp>
        <p:nvSpPr>
          <p:cNvPr id="13" name="Cover subtitle in red field">
            <a:extLst xmlns:a="http://schemas.openxmlformats.org/drawingml/2006/main">
              <a:ext uri="{FF2B5EF4-FFF2-40B4-BE49-F238E27FC236}">
                <a16:creationId xmlns:a16="http://schemas.microsoft.com/office/drawing/2014/main" id="{FB0AC7A2-DBDB-4B81-959A-D119BC47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07220"/>
            <a:ext cx="6781800" cy="91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defRPr sz="2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Az Ön gyártási technológiájára optimalizálva.</a:t>
            </a:r>
          </a:p>
        </p:txBody>
      </p:sp>
    </p:spTree>
    <p:extLst>
      <p:ext uri="{BB962C8B-B14F-4D97-AF65-F5344CB8AC3E}">
        <p14:creationId xmlns:p14="http://schemas.microsoft.com/office/powerpoint/2010/main" val="1005096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7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églalap 27">
            <a:extLst xmlns:a="http://schemas.openxmlformats.org/drawingml/2006/main">
              <a:ext uri="{FF2B5EF4-FFF2-40B4-BE49-F238E27FC236}">
                <a16:creationId xmlns:a16="http://schemas.microsoft.com/office/drawing/2014/main" id="{B914D45B-FE00-4B6D-BBDD-B9B00F6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76D3E"/>
                </a:solidFill>
              </a:defRPr>
            </a:pPr>
            <a:r>
              <a:rPr sz="1050" b="1">
                <a:solidFill>
                  <a:srgbClr val="376D3E"/>
                </a:solidFill>
              </a:rPr>
              <a:t>TECHNOLÓGIAI MEGOLDÁSOK</a:t>
            </a:r>
          </a:p>
        </p:txBody>
      </p:sp>
      <p:sp>
        <p:nvSpPr>
          <p:cNvPr id="2" name="Téglalap 1">
            <a:extLst xmlns:a="http://schemas.openxmlformats.org/drawingml/2006/main">
              <a:ext uri="{FF2B5EF4-FFF2-40B4-BE49-F238E27FC236}">
                <a16:creationId xmlns:a16="http://schemas.microsoft.com/office/drawing/2014/main" id="{AA70A1BF-9C75-47AC-9ACE-3A780836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941334"/>
                </a:solidFill>
              </a:defRPr>
            </a:pPr>
            <a:r>
              <a:rPr sz="3150" b="1">
                <a:solidFill>
                  <a:srgbClr val="941334"/>
                </a:solidFill>
              </a:rPr>
              <a:t>T</a:t>
            </a:r>
            <a:r>
              <a:rPr sz="3150" b="1">
                <a:solidFill>
                  <a:srgbClr val="941334"/>
                </a:solidFill>
              </a:rPr>
              <a:t>öltelék</a:t>
            </a:r>
            <a:r>
              <a:rPr sz="3150" b="1">
                <a:solidFill>
                  <a:srgbClr val="941334"/>
                </a:solidFill>
              </a:rPr>
              <a:t> </a:t>
            </a:r>
            <a:r>
              <a:rPr sz="3150" b="1">
                <a:solidFill>
                  <a:srgbClr val="941334"/>
                </a:solidFill>
              </a:rPr>
              <a:t>a gyártásban</a:t>
            </a:r>
            <a:endParaRPr sz="3150" b="1">
              <a:solidFill>
                <a:srgbClr val="941334"/>
              </a:solidFill>
            </a:endParaRPr>
          </a:p>
        </p:txBody>
      </p:sp>
      <p:sp>
        <p:nvSpPr>
          <p:cNvPr id="3" name="Téglalap 2">
            <a:extLst xmlns:a="http://schemas.openxmlformats.org/drawingml/2006/main">
              <a:ext uri="{FF2B5EF4-FFF2-40B4-BE49-F238E27FC236}">
                <a16:creationId xmlns:a16="http://schemas.microsoft.com/office/drawing/2014/main" id="{B84A84D7-C2E1-4231-A207-5340011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4" name="Kép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b9a6d389c4f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3550" y="400050"/>
            <a:ext cx="1524000" cy="1524000"/>
          </a:xfrm>
          <a:prstGeom xmlns:a="http://schemas.openxmlformats.org/drawingml/2006/main" prst="ellipse">
            <a:avLst/>
          </a:prstGeom>
        </p:spPr>
      </p:pic>
      <p:sp>
        <p:nvSpPr>
          <p:cNvPr id="5" name="Ellipszis 4">
            <a:extLst xmlns:a="http://schemas.openxmlformats.org/drawingml/2006/main">
              <a:ext uri="{FF2B5EF4-FFF2-40B4-BE49-F238E27FC236}">
                <a16:creationId xmlns:a16="http://schemas.microsoft.com/office/drawing/2014/main" id="{D8BE491B-EC13-4A51-9B90-7839004B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17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églalap 5">
            <a:extLst xmlns:a="http://schemas.openxmlformats.org/drawingml/2006/main">
              <a:ext uri="{FF2B5EF4-FFF2-40B4-BE49-F238E27FC236}">
                <a16:creationId xmlns:a16="http://schemas.microsoft.com/office/drawing/2014/main" id="{06F34E0A-748A-4DD1-8213-A81F8160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DF8"/>
                </a:solidFill>
              </a:defRPr>
            </a:pPr>
            <a:r>
              <a:rPr sz="1650" b="1">
                <a:solidFill>
                  <a:srgbClr val="FFFDF8"/>
                </a:solidFill>
              </a:rPr>
              <a:t>1</a:t>
            </a:r>
          </a:p>
        </p:txBody>
      </p:sp>
      <p:sp>
        <p:nvSpPr>
          <p:cNvPr id="7" name="Téglalap 6">
            <a:extLst xmlns:a="http://schemas.openxmlformats.org/drawingml/2006/main">
              <a:ext uri="{FF2B5EF4-FFF2-40B4-BE49-F238E27FC236}">
                <a16:creationId xmlns:a16="http://schemas.microsoft.com/office/drawing/2014/main" id="{549F8183-82FB-456D-8F34-CFC1F171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24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941334"/>
                </a:solidFill>
              </a:defRPr>
            </a:pPr>
            <a:r>
              <a:rPr sz="1875" b="1">
                <a:solidFill>
                  <a:srgbClr val="941334"/>
                </a:solidFill>
              </a:rPr>
              <a:t>Sütésállóság</a:t>
            </a:r>
            <a:endParaRPr sz="1875" b="1">
              <a:solidFill>
                <a:srgbClr val="941334"/>
              </a:solidFill>
            </a:endParaRPr>
          </a:p>
        </p:txBody>
      </p:sp>
      <p:sp>
        <p:nvSpPr>
          <p:cNvPr id="8" name="Téglalap 7">
            <a:extLst xmlns:a="http://schemas.openxmlformats.org/drawingml/2006/main">
              <a:ext uri="{FF2B5EF4-FFF2-40B4-BE49-F238E27FC236}">
                <a16:creationId xmlns:a16="http://schemas.microsoft.com/office/drawing/2014/main" id="{0DFCED32-E372-4004-829C-0392F810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95600"/>
            <a:ext cx="2571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A2730"/>
                </a:solidFill>
              </a:defRPr>
            </a:pPr>
            <a:r>
              <a:rPr sz="1500" b="0">
                <a:solidFill>
                  <a:srgbClr val="4A2730"/>
                </a:solidFill>
              </a:rPr>
              <a:t>180 °C </a:t>
            </a:r>
            <a:r>
              <a:rPr sz="1500" b="0">
                <a:solidFill>
                  <a:srgbClr val="4A2730"/>
                </a:solidFill>
              </a:rPr>
              <a:t>és</a:t>
            </a:r>
            <a:r>
              <a:rPr sz="1500" b="0">
                <a:solidFill>
                  <a:srgbClr val="4A2730"/>
                </a:solidFill>
              </a:rPr>
              <a:t> 220 °C </a:t>
            </a:r>
            <a:r>
              <a:rPr sz="1500" b="0">
                <a:solidFill>
                  <a:srgbClr val="4A2730"/>
                </a:solidFill>
              </a:rPr>
              <a:t>alkalmazásokhoz- kifolyás mentes sütés után is</a:t>
            </a:r>
            <a:endParaRPr sz="1500" b="0">
              <a:solidFill>
                <a:srgbClr val="4A2730"/>
              </a:solidFill>
            </a:endParaRPr>
          </a:p>
        </p:txBody>
      </p:sp>
      <p:sp>
        <p:nvSpPr>
          <p:cNvPr id="9" name="Ellipszis 8">
            <a:extLst xmlns:a="http://schemas.openxmlformats.org/drawingml/2006/main">
              <a:ext uri="{FF2B5EF4-FFF2-40B4-BE49-F238E27FC236}">
                <a16:creationId xmlns:a16="http://schemas.microsoft.com/office/drawing/2014/main" id="{1FB8FED6-9A0F-41CE-9AD9-C5DDBA2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43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D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églalap 9">
            <a:extLst xmlns:a="http://schemas.openxmlformats.org/drawingml/2006/main">
              <a:ext uri="{FF2B5EF4-FFF2-40B4-BE49-F238E27FC236}">
                <a16:creationId xmlns:a16="http://schemas.microsoft.com/office/drawing/2014/main" id="{5B0A61B4-5FE9-4F75-B736-5AC1F32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003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DF8"/>
                </a:solidFill>
              </a:defRPr>
            </a:pPr>
            <a:r>
              <a:rPr sz="1650" b="1">
                <a:solidFill>
                  <a:srgbClr val="FFFDF8"/>
                </a:solidFill>
              </a:rPr>
              <a:t>2</a:t>
            </a:r>
          </a:p>
        </p:txBody>
      </p:sp>
      <p:sp>
        <p:nvSpPr>
          <p:cNvPr id="11" name="Téglalap 10">
            <a:extLst xmlns:a="http://schemas.openxmlformats.org/drawingml/2006/main">
              <a:ext uri="{FF2B5EF4-FFF2-40B4-BE49-F238E27FC236}">
                <a16:creationId xmlns:a16="http://schemas.microsoft.com/office/drawing/2014/main" id="{C3038D07-4570-4F47-B7A6-8E69DC44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941334"/>
                </a:solidFill>
              </a:defRPr>
            </a:pPr>
            <a:r>
              <a:rPr sz="1875" b="1">
                <a:solidFill>
                  <a:srgbClr val="941334"/>
                </a:solidFill>
              </a:rPr>
              <a:t>Fagyasztásállóság</a:t>
            </a:r>
          </a:p>
        </p:txBody>
      </p:sp>
      <p:sp>
        <p:nvSpPr>
          <p:cNvPr id="12" name="Téglalap 11">
            <a:extLst xmlns:a="http://schemas.openxmlformats.org/drawingml/2006/main">
              <a:ext uri="{FF2B5EF4-FFF2-40B4-BE49-F238E27FC236}">
                <a16:creationId xmlns:a16="http://schemas.microsoft.com/office/drawing/2014/main" id="{ED7CE872-0BE2-42FD-8C32-2C33BA4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571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A2730"/>
                </a:solidFill>
              </a:defRPr>
            </a:pPr>
            <a:r>
              <a:rPr sz="1500" b="0">
                <a:solidFill>
                  <a:srgbClr val="4A2730"/>
                </a:solidFill>
              </a:rPr>
              <a:t>Fagyasztás</a:t>
            </a:r>
            <a:r>
              <a:rPr sz="1500" b="0">
                <a:solidFill>
                  <a:srgbClr val="4A2730"/>
                </a:solidFill>
              </a:rPr>
              <a:t>–</a:t>
            </a:r>
            <a:r>
              <a:rPr sz="1500" b="0">
                <a:solidFill>
                  <a:srgbClr val="4A2730"/>
                </a:solidFill>
              </a:rPr>
              <a:t>tárolás</a:t>
            </a:r>
            <a:r>
              <a:rPr sz="1500" b="0">
                <a:solidFill>
                  <a:srgbClr val="4A2730"/>
                </a:solidFill>
              </a:rPr>
              <a:t>–</a:t>
            </a:r>
            <a:r>
              <a:rPr sz="1500" b="0">
                <a:solidFill>
                  <a:srgbClr val="4A2730"/>
                </a:solidFill>
              </a:rPr>
              <a:t>kiolvasztás</a:t>
            </a:r>
            <a:r>
              <a:rPr sz="1500" b="0">
                <a:solidFill>
                  <a:srgbClr val="4A2730"/>
                </a:solidFill>
              </a:rPr>
              <a:t>–</a:t>
            </a:r>
            <a:r>
              <a:rPr sz="1500" b="0">
                <a:solidFill>
                  <a:srgbClr val="4A2730"/>
                </a:solidFill>
              </a:rPr>
              <a:t>kelesztés</a:t>
            </a:r>
            <a:r>
              <a:rPr sz="1500" b="0">
                <a:solidFill>
                  <a:srgbClr val="4A2730"/>
                </a:solidFill>
              </a:rPr>
              <a:t>–</a:t>
            </a:r>
            <a:r>
              <a:rPr sz="1500" b="0">
                <a:solidFill>
                  <a:srgbClr val="4A2730"/>
                </a:solidFill>
              </a:rPr>
              <a:t>sütés</a:t>
            </a:r>
            <a:r>
              <a:rPr sz="1500" b="0">
                <a:solidFill>
                  <a:srgbClr val="4A2730"/>
                </a:solidFill>
              </a:rPr>
              <a:t> </a:t>
            </a:r>
            <a:r>
              <a:rPr sz="1500" b="0">
                <a:solidFill>
                  <a:srgbClr val="4A2730"/>
                </a:solidFill>
              </a:rPr>
              <a:t>ciklusokra</a:t>
            </a:r>
            <a:r>
              <a:rPr sz="1500" b="0">
                <a:solidFill>
                  <a:srgbClr val="4A2730"/>
                </a:solidFill>
              </a:rPr>
              <a:t>, </a:t>
            </a:r>
            <a:r>
              <a:rPr sz="1500" b="0">
                <a:solidFill>
                  <a:srgbClr val="4A2730"/>
                </a:solidFill>
              </a:rPr>
              <a:t>szinerézis</a:t>
            </a:r>
            <a:r>
              <a:rPr sz="1500" b="0">
                <a:solidFill>
                  <a:srgbClr val="4A2730"/>
                </a:solidFill>
              </a:rPr>
              <a:t>-</a:t>
            </a:r>
            <a:r>
              <a:rPr sz="1500" b="0">
                <a:solidFill>
                  <a:srgbClr val="4A2730"/>
                </a:solidFill>
              </a:rPr>
              <a:t>kontrollal</a:t>
            </a:r>
            <a:r>
              <a:rPr sz="1500" b="0">
                <a:solidFill>
                  <a:srgbClr val="4A2730"/>
                </a:solidFill>
              </a:rPr>
              <a:t>.</a:t>
            </a:r>
          </a:p>
        </p:txBody>
      </p:sp>
      <p:sp>
        <p:nvSpPr>
          <p:cNvPr id="13" name="Ellipszis 12">
            <a:extLst xmlns:a="http://schemas.openxmlformats.org/drawingml/2006/main">
              <a:ext uri="{FF2B5EF4-FFF2-40B4-BE49-F238E27FC236}">
                <a16:creationId xmlns:a16="http://schemas.microsoft.com/office/drawing/2014/main" id="{E6E0BC91-E006-4A75-9E4B-15168E6C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églalap 13">
            <a:extLst xmlns:a="http://schemas.openxmlformats.org/drawingml/2006/main">
              <a:ext uri="{FF2B5EF4-FFF2-40B4-BE49-F238E27FC236}">
                <a16:creationId xmlns:a16="http://schemas.microsoft.com/office/drawing/2014/main" id="{7D756D4C-206D-4C74-9C3B-2CFBB9C2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DF8"/>
                </a:solidFill>
              </a:defRPr>
            </a:pPr>
            <a:r>
              <a:rPr sz="1650" b="1">
                <a:solidFill>
                  <a:srgbClr val="FFFDF8"/>
                </a:solidFill>
              </a:rPr>
              <a:t>3</a:t>
            </a:r>
          </a:p>
        </p:txBody>
      </p:sp>
      <p:sp>
        <p:nvSpPr>
          <p:cNvPr id="15" name="Téglalap 14">
            <a:extLst xmlns:a="http://schemas.openxmlformats.org/drawingml/2006/main">
              <a:ext uri="{FF2B5EF4-FFF2-40B4-BE49-F238E27FC236}">
                <a16:creationId xmlns:a16="http://schemas.microsoft.com/office/drawing/2014/main" id="{6EDEC727-760C-4E03-91A2-93A21126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10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941334"/>
                </a:solidFill>
              </a:defRPr>
            </a:pPr>
            <a:r>
              <a:rPr sz="1875" b="1">
                <a:solidFill>
                  <a:srgbClr val="941334"/>
                </a:solidFill>
              </a:rPr>
              <a:t>Gépi tölthetőség</a:t>
            </a:r>
          </a:p>
        </p:txBody>
      </p:sp>
      <p:sp>
        <p:nvSpPr>
          <p:cNvPr id="16" name="Téglalap 15">
            <a:extLst xmlns:a="http://schemas.openxmlformats.org/drawingml/2006/main">
              <a:ext uri="{FF2B5EF4-FFF2-40B4-BE49-F238E27FC236}">
                <a16:creationId xmlns:a16="http://schemas.microsoft.com/office/drawing/2014/main" id="{3283086F-349F-428B-A4E0-9C5D95EA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181600"/>
            <a:ext cx="2571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A2730"/>
                </a:solidFill>
              </a:defRPr>
            </a:pPr>
            <a:r>
              <a:rPr sz="1500" b="0">
                <a:solidFill>
                  <a:srgbClr val="4A2730"/>
                </a:solidFill>
              </a:rPr>
              <a:t>Pumpálható</a:t>
            </a:r>
            <a:r>
              <a:rPr sz="1500" b="0">
                <a:solidFill>
                  <a:srgbClr val="4A2730"/>
                </a:solidFill>
              </a:rPr>
              <a:t>, </a:t>
            </a:r>
            <a:r>
              <a:rPr sz="1500" b="0">
                <a:solidFill>
                  <a:srgbClr val="4A2730"/>
                </a:solidFill>
              </a:rPr>
              <a:t>reprodukálható</a:t>
            </a:r>
            <a:r>
              <a:rPr sz="1500" b="0">
                <a:solidFill>
                  <a:srgbClr val="4A2730"/>
                </a:solidFill>
              </a:rPr>
              <a:t> </a:t>
            </a:r>
            <a:r>
              <a:rPr sz="1500" b="0">
                <a:solidFill>
                  <a:srgbClr val="4A2730"/>
                </a:solidFill>
              </a:rPr>
              <a:t>adagolás</a:t>
            </a:r>
            <a:r>
              <a:rPr sz="1500" b="0">
                <a:solidFill>
                  <a:srgbClr val="4A2730"/>
                </a:solidFill>
              </a:rPr>
              <a:t> -</a:t>
            </a:r>
            <a:r>
              <a:rPr sz="1500" b="0">
                <a:solidFill>
                  <a:srgbClr val="4A2730"/>
                </a:solidFill>
              </a:rPr>
              <a:t> </a:t>
            </a:r>
            <a:r>
              <a:rPr sz="1500" b="0">
                <a:solidFill>
                  <a:srgbClr val="4A2730"/>
                </a:solidFill>
              </a:rPr>
              <a:t>hőmérséklet</a:t>
            </a:r>
            <a:r>
              <a:rPr sz="1500" b="0">
                <a:solidFill>
                  <a:srgbClr val="4A2730"/>
                </a:solidFill>
              </a:rPr>
              <a:t>, </a:t>
            </a:r>
            <a:r>
              <a:rPr sz="1500" b="0">
                <a:solidFill>
                  <a:srgbClr val="4A2730"/>
                </a:solidFill>
              </a:rPr>
              <a:t>viszkozitás és</a:t>
            </a:r>
            <a:r>
              <a:rPr sz="1500" b="0">
                <a:solidFill>
                  <a:srgbClr val="4A2730"/>
                </a:solidFill>
              </a:rPr>
              <a:t> </a:t>
            </a:r>
            <a:r>
              <a:rPr sz="1500" b="0">
                <a:solidFill>
                  <a:srgbClr val="4A2730"/>
                </a:solidFill>
              </a:rPr>
              <a:t>darabméret</a:t>
            </a:r>
            <a:r>
              <a:rPr sz="1500" b="0">
                <a:solidFill>
                  <a:srgbClr val="4A2730"/>
                </a:solidFill>
              </a:rPr>
              <a:t> </a:t>
            </a:r>
            <a:r>
              <a:rPr sz="1500" b="0">
                <a:solidFill>
                  <a:srgbClr val="4A2730"/>
                </a:solidFill>
              </a:rPr>
              <a:t>együtt</a:t>
            </a:r>
            <a:r>
              <a:rPr sz="1500" b="0">
                <a:solidFill>
                  <a:srgbClr val="4A2730"/>
                </a:solidFill>
              </a:rPr>
              <a:t> </a:t>
            </a:r>
            <a:r>
              <a:rPr sz="1500" b="0">
                <a:solidFill>
                  <a:srgbClr val="4A2730"/>
                </a:solidFill>
              </a:rPr>
              <a:t>kezelve</a:t>
            </a:r>
            <a:r>
              <a:rPr sz="1500" b="0">
                <a:solidFill>
                  <a:srgbClr val="4A2730"/>
                </a:solidFill>
              </a:rPr>
              <a:t>.</a:t>
            </a:r>
          </a:p>
        </p:txBody>
      </p:sp>
      <p:sp>
        <p:nvSpPr>
          <p:cNvPr id="17" name="Ellipszis 16">
            <a:extLst xmlns:a="http://schemas.openxmlformats.org/drawingml/2006/main">
              <a:ext uri="{FF2B5EF4-FFF2-40B4-BE49-F238E27FC236}">
                <a16:creationId xmlns:a16="http://schemas.microsoft.com/office/drawing/2014/main" id="{6845F1B9-A64B-47CC-8FC6-D576C69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29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24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églalap 17">
            <a:extLst xmlns:a="http://schemas.openxmlformats.org/drawingml/2006/main">
              <a:ext uri="{FF2B5EF4-FFF2-40B4-BE49-F238E27FC236}">
                <a16:creationId xmlns:a16="http://schemas.microsoft.com/office/drawing/2014/main" id="{4C98295B-5F96-437D-B4C3-94CF2AE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863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DF8"/>
                </a:solidFill>
              </a:defRPr>
            </a:pPr>
            <a:r>
              <a:rPr sz="1650" b="1">
                <a:solidFill>
                  <a:srgbClr val="FFFDF8"/>
                </a:solidFill>
              </a:rPr>
              <a:t>4</a:t>
            </a:r>
          </a:p>
        </p:txBody>
      </p:sp>
      <p:sp>
        <p:nvSpPr>
          <p:cNvPr id="19" name="Téglalap 18">
            <a:extLst xmlns:a="http://schemas.openxmlformats.org/drawingml/2006/main">
              <a:ext uri="{FF2B5EF4-FFF2-40B4-BE49-F238E27FC236}">
                <a16:creationId xmlns:a16="http://schemas.microsoft.com/office/drawing/2014/main" id="{36D51E8B-9F97-4F78-94CF-B9A36BEC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0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941334"/>
                </a:solidFill>
              </a:defRPr>
            </a:pPr>
            <a:r>
              <a:rPr sz="1875" b="1">
                <a:solidFill>
                  <a:srgbClr val="941334"/>
                </a:solidFill>
              </a:rPr>
              <a:t>Textúra és darabméret</a:t>
            </a:r>
          </a:p>
        </p:txBody>
      </p:sp>
      <p:sp>
        <p:nvSpPr>
          <p:cNvPr id="20" name="Téglalap 19">
            <a:extLst xmlns:a="http://schemas.openxmlformats.org/drawingml/2006/main">
              <a:ext uri="{FF2B5EF4-FFF2-40B4-BE49-F238E27FC236}">
                <a16:creationId xmlns:a16="http://schemas.microsoft.com/office/drawing/2014/main" id="{B8FB16B3-4A0E-4A4A-B887-8896BEFB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81600"/>
            <a:ext cx="2571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A2730"/>
                </a:solidFill>
              </a:defRPr>
            </a:pPr>
            <a:r>
              <a:rPr sz="1500" b="0">
                <a:solidFill>
                  <a:srgbClr val="4A2730"/>
                </a:solidFill>
              </a:rPr>
              <a:t>Homogén vagy gyümölcs darabos tartalom  a termékélményhez és a gépsorhoz igazítva.</a:t>
            </a:r>
          </a:p>
        </p:txBody>
      </p:sp>
      <p:pic>
        <p:nvPicPr>
          <p:cNvPr id="51" name="Kép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15501bb3a49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6477000"/>
            <a:ext cx="7562850" cy="3619500"/>
          </a:xfrm>
          <a:prstGeom xmlns:a="http://schemas.openxmlformats.org/drawingml/2006/main" prst="rect">
            <a:avLst/>
          </a:prstGeom>
        </p:spPr>
      </p:pic>
      <p:sp>
        <p:nvSpPr>
          <p:cNvPr id="23" name="Téglalap 22">
            <a:extLst xmlns:a="http://schemas.openxmlformats.org/drawingml/2006/main">
              <a:ext uri="{FF2B5EF4-FFF2-40B4-BE49-F238E27FC236}">
                <a16:creationId xmlns:a16="http://schemas.microsoft.com/office/drawing/2014/main" id="{2E15AEDB-5CD1-4A9C-BD80-39CFCAAE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705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3A21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E3A21A"/>
                </a:solidFill>
                <a:latin typeface="Calibri"/>
                <a:ea typeface="Calibri"/>
                <a:cs typeface="Calibri"/>
              </a:rPr>
              <a:t>További opciók</a:t>
            </a:r>
          </a:p>
        </p:txBody>
      </p:sp>
      <p:sp>
        <p:nvSpPr>
          <p:cNvPr id="24" name="Téglalap 23">
            <a:extLst xmlns:a="http://schemas.openxmlformats.org/drawingml/2006/main">
              <a:ext uri="{FF2B5EF4-FFF2-40B4-BE49-F238E27FC236}">
                <a16:creationId xmlns:a16="http://schemas.microsoft.com/office/drawing/2014/main" id="{28F65FD8-3596-4561-92FF-6642C87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143750"/>
            <a:ext cx="2286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Csökkentett cukor</a:t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Cukormentes sütésálló</a:t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Extra dzsem</a:t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Kenhető kivitel</a:t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buNone/>
              <a:defRPr sz="1613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613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/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buNone/>
              <a:defRPr sz="1613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613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/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Gyümölcstartalom</a:t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Cukorszint</a:t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Szín</a:t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Állag</a:t>
            </a:r>
            <a:endParaRPr sz="15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88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• Adagolhatóság</a:t>
            </a:r>
            <a:endParaRPr sz="1500" b="1">
              <a:solidFill>
                <a:srgbClr val="FFFDF8"/>
              </a:solidFill>
            </a:endParaRPr>
          </a:p>
        </p:txBody>
      </p:sp>
      <p:sp>
        <p:nvSpPr>
          <p:cNvPr id="25" name="Téglalap 24">
            <a:extLst xmlns:a="http://schemas.openxmlformats.org/drawingml/2006/main">
              <a:ext uri="{FF2B5EF4-FFF2-40B4-BE49-F238E27FC236}">
                <a16:creationId xmlns:a16="http://schemas.microsoft.com/office/drawing/2014/main" id="{1B1F0271-D6C1-494A-9E74-F57743F5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26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3A21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E3A21A"/>
                </a:solidFill>
                <a:latin typeface="Calibri"/>
                <a:ea typeface="Calibri"/>
                <a:cs typeface="Calibri"/>
              </a:rPr>
              <a:t>Az ízen túl</a:t>
            </a:r>
          </a:p>
        </p:txBody>
      </p:sp>
      <p:sp>
        <p:nvSpPr>
          <p:cNvPr id="26" name="Téglalap 25">
            <a:extLst xmlns:a="http://schemas.openxmlformats.org/drawingml/2006/main">
              <a:ext uri="{FF2B5EF4-FFF2-40B4-BE49-F238E27FC236}">
                <a16:creationId xmlns:a16="http://schemas.microsoft.com/office/drawing/2014/main" id="{A1CDAD64-F0C6-44BA-A4E9-08AA03E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9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A2336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A2336"/>
                </a:solidFill>
                <a:latin typeface="Calibri"/>
                <a:ea typeface="Calibri"/>
                <a:cs typeface="Calibri"/>
              </a:rPr>
              <a:t>SUN VALLEY ZRT.   •   B2B GYÜMÖLCSTÖLTELÉKEK</a:t>
            </a:r>
          </a:p>
        </p:txBody>
      </p:sp>
      <p:sp>
        <p:nvSpPr>
          <p:cNvPr id="27" name="Téglalap 26">
            <a:extLst xmlns:a="http://schemas.openxmlformats.org/drawingml/2006/main">
              <a:ext uri="{FF2B5EF4-FFF2-40B4-BE49-F238E27FC236}">
                <a16:creationId xmlns:a16="http://schemas.microsoft.com/office/drawing/2014/main" id="{30A8E883-4D1C-4C1A-8166-B27DC84D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277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41334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941334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8960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églalap 22">
            <a:extLst xmlns:a="http://schemas.openxmlformats.org/drawingml/2006/main">
              <a:ext uri="{FF2B5EF4-FFF2-40B4-BE49-F238E27FC236}">
                <a16:creationId xmlns:a16="http://schemas.microsoft.com/office/drawing/2014/main" id="{747C9172-FCE4-4308-82E8-9BC4B567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76D3E"/>
                </a:solidFill>
              </a:defRPr>
            </a:pPr>
            <a:r>
              <a:rPr sz="1050" b="1">
                <a:solidFill>
                  <a:srgbClr val="376D3E"/>
                </a:solidFill>
              </a:rPr>
              <a:t>ALKALMAZÁSI TERÜLETEK</a:t>
            </a:r>
          </a:p>
        </p:txBody>
      </p:sp>
      <p:sp>
        <p:nvSpPr>
          <p:cNvPr id="2" name="Téglalap 1">
            <a:extLst xmlns:a="http://schemas.openxmlformats.org/drawingml/2006/main">
              <a:ext uri="{FF2B5EF4-FFF2-40B4-BE49-F238E27FC236}">
                <a16:creationId xmlns:a16="http://schemas.microsoft.com/office/drawing/2014/main" id="{10677DD3-55CA-4AB8-B8FA-0D52EA7D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"/>
            <a:ext cx="647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941334"/>
                </a:solidFill>
              </a:defRPr>
            </a:pPr>
            <a:r>
              <a:rPr sz="3450" b="1">
                <a:solidFill>
                  <a:srgbClr val="941334"/>
                </a:solidFill>
              </a:rPr>
              <a:t>Ipari megoldásaink </a:t>
            </a:r>
            <a:endParaRPr sz="3450" b="1">
              <a:solidFill>
                <a:srgbClr val="941334"/>
              </a:solidFill>
            </a:endParaRPr>
          </a:p>
        </p:txBody>
      </p:sp>
      <p:sp>
        <p:nvSpPr>
          <p:cNvPr id="3" name="Téglalap 2">
            <a:extLst xmlns:a="http://schemas.openxmlformats.org/drawingml/2006/main">
              <a:ext uri="{FF2B5EF4-FFF2-40B4-BE49-F238E27FC236}">
                <a16:creationId xmlns:a16="http://schemas.microsoft.com/office/drawing/2014/main" id="{50965153-A92A-4F10-AC1D-20D7EF1C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Kép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288bc273e4a33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190750"/>
            <a:ext cx="1619250" cy="1619250"/>
          </a:xfrm>
          <a:prstGeom xmlns:a="http://schemas.openxmlformats.org/drawingml/2006/main" prst="ellipse">
            <a:avLst/>
          </a:prstGeom>
        </p:spPr>
      </p:pic>
      <p:sp>
        <p:nvSpPr>
          <p:cNvPr id="5" name="Téglalap 4">
            <a:extLst xmlns:a="http://schemas.openxmlformats.org/drawingml/2006/main">
              <a:ext uri="{FF2B5EF4-FFF2-40B4-BE49-F238E27FC236}">
                <a16:creationId xmlns:a16="http://schemas.microsoft.com/office/drawing/2014/main" id="{6A592C58-0DF8-4C6A-83B9-E5A701B2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526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941334"/>
                </a:solidFill>
              </a:defRPr>
            </a:pPr>
            <a:r>
              <a:rPr sz="2025" b="1">
                <a:solidFill>
                  <a:srgbClr val="941334"/>
                </a:solidFill>
              </a:rPr>
              <a:t>Pékáru és fagyasztott termékek</a:t>
            </a:r>
          </a:p>
        </p:txBody>
      </p:sp>
      <p:sp>
        <p:nvSpPr>
          <p:cNvPr id="6" name="Téglalap 5">
            <a:extLst xmlns:a="http://schemas.openxmlformats.org/drawingml/2006/main">
              <a:ext uri="{FF2B5EF4-FFF2-40B4-BE49-F238E27FC236}">
                <a16:creationId xmlns:a16="http://schemas.microsoft.com/office/drawing/2014/main" id="{00130CAB-582D-4DFE-BCCD-6E9ADF2C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812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76D3E"/>
                </a:solidFill>
              </a:defRPr>
            </a:pPr>
            <a:r>
              <a:rPr sz="1425" b="1">
                <a:solidFill>
                  <a:srgbClr val="376D3E"/>
                </a:solidFill>
              </a:rPr>
              <a:t>Sütésálló</a:t>
            </a:r>
            <a:r>
              <a:rPr sz="1425" b="1">
                <a:solidFill>
                  <a:srgbClr val="376D3E"/>
                </a:solidFill>
              </a:rPr>
              <a:t>•  F</a:t>
            </a:r>
            <a:r>
              <a:rPr sz="1425" b="1">
                <a:solidFill>
                  <a:srgbClr val="376D3E"/>
                </a:solidFill>
              </a:rPr>
              <a:t>agyasztás álló</a:t>
            </a:r>
            <a:r>
              <a:rPr sz="1425" b="1">
                <a:solidFill>
                  <a:srgbClr val="376D3E"/>
                </a:solidFill>
              </a:rPr>
              <a:t>  •  </a:t>
            </a:r>
            <a:r>
              <a:rPr sz="1425" b="1">
                <a:solidFill>
                  <a:srgbClr val="376D3E"/>
                </a:solidFill>
              </a:rPr>
              <a:t>Tölthető</a:t>
            </a:r>
            <a:endParaRPr sz="1425" b="1">
              <a:solidFill>
                <a:srgbClr val="376D3E"/>
              </a:solidFill>
            </a:endParaRPr>
          </a:p>
        </p:txBody>
      </p:sp>
      <p:sp>
        <p:nvSpPr>
          <p:cNvPr id="7" name="Téglalap 6">
            <a:extLst xmlns:a="http://schemas.openxmlformats.org/drawingml/2006/main">
              <a:ext uri="{FF2B5EF4-FFF2-40B4-BE49-F238E27FC236}">
                <a16:creationId xmlns:a16="http://schemas.microsoft.com/office/drawing/2014/main" id="{1D34DFB6-3957-4838-856B-01D47B52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4333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A2730"/>
                </a:solidFill>
              </a:defRPr>
            </a:pPr>
            <a:r>
              <a:rPr sz="1575" b="0">
                <a:solidFill>
                  <a:srgbClr val="4A2730"/>
                </a:solidFill>
              </a:rPr>
              <a:t>Ízek: sárgabarack, szilva, meggy, alma, vegyes gyümölcs, egyedi fejlesztésben eper, málna, bogyós kombinációk, egzotikus gyümölcsök</a:t>
            </a:r>
            <a:endParaRPr sz="1575" b="0">
              <a:solidFill>
                <a:srgbClr val="4A2730"/>
              </a:solidFill>
            </a:endParaRPr>
          </a:p>
        </p:txBody>
      </p:sp>
      <p:sp>
        <p:nvSpPr>
          <p:cNvPr id="8" name="Téglalap 7">
            <a:extLst xmlns:a="http://schemas.openxmlformats.org/drawingml/2006/main">
              <a:ext uri="{FF2B5EF4-FFF2-40B4-BE49-F238E27FC236}">
                <a16:creationId xmlns:a16="http://schemas.microsoft.com/office/drawing/2014/main" id="{319F79E4-318B-4E57-91E4-CE4F2765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29075"/>
            <a:ext cx="651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Kép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66372a962462b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4333875"/>
            <a:ext cx="1619250" cy="1619250"/>
          </a:xfrm>
          <a:prstGeom xmlns:a="http://schemas.openxmlformats.org/drawingml/2006/main" prst="ellipse">
            <a:avLst/>
          </a:prstGeom>
        </p:spPr>
      </p:pic>
      <p:sp>
        <p:nvSpPr>
          <p:cNvPr id="10" name="Téglalap 9">
            <a:extLst xmlns:a="http://schemas.openxmlformats.org/drawingml/2006/main">
              <a:ext uri="{FF2B5EF4-FFF2-40B4-BE49-F238E27FC236}">
                <a16:creationId xmlns:a16="http://schemas.microsoft.com/office/drawing/2014/main" id="{2EB3A0E3-5A11-424D-8A57-D3A3CCBE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957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941334"/>
                </a:solidFill>
              </a:defRPr>
            </a:pPr>
            <a:r>
              <a:rPr sz="2025" b="1">
                <a:solidFill>
                  <a:srgbClr val="941334"/>
                </a:solidFill>
              </a:rPr>
              <a:t>Tejipar és hűtött desszertek</a:t>
            </a:r>
          </a:p>
        </p:txBody>
      </p:sp>
      <p:sp>
        <p:nvSpPr>
          <p:cNvPr id="11" name="Téglalap 10">
            <a:extLst xmlns:a="http://schemas.openxmlformats.org/drawingml/2006/main">
              <a:ext uri="{FF2B5EF4-FFF2-40B4-BE49-F238E27FC236}">
                <a16:creationId xmlns:a16="http://schemas.microsoft.com/office/drawing/2014/main" id="{7E2E59C9-7D57-4244-9DDA-7BF4B188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76D3E"/>
                </a:solidFill>
              </a:defRPr>
            </a:pPr>
            <a:r>
              <a:rPr sz="1425" b="1">
                <a:solidFill>
                  <a:srgbClr val="376D3E"/>
                </a:solidFill>
              </a:rPr>
              <a:t>Töltelék homogén/gyümölcs darabkákkal</a:t>
            </a:r>
            <a:endParaRPr sz="1425" b="1">
              <a:solidFill>
                <a:srgbClr val="376D3E"/>
              </a:solidFill>
            </a:endParaRPr>
          </a:p>
        </p:txBody>
      </p:sp>
      <p:sp>
        <p:nvSpPr>
          <p:cNvPr id="12" name="Téglalap 11">
            <a:extLst xmlns:a="http://schemas.openxmlformats.org/drawingml/2006/main">
              <a:ext uri="{FF2B5EF4-FFF2-40B4-BE49-F238E27FC236}">
                <a16:creationId xmlns:a16="http://schemas.microsoft.com/office/drawing/2014/main" id="{F1A44499-6723-4F58-9AC1-6A2AC6C9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A2730"/>
                </a:solidFill>
              </a:defRPr>
            </a:pPr>
            <a:r>
              <a:rPr sz="1575" b="0">
                <a:solidFill>
                  <a:srgbClr val="4A2730"/>
                </a:solidFill>
              </a:rPr>
              <a:t>Ízek: sárgabarack, meggy, szilva,alma, vegyes gyümölcs egyedi fejlesztésben eper, málna, bogyós kombinációk, egzotikus gyümölcsök</a:t>
            </a:r>
            <a:endParaRPr sz="1575" b="0">
              <a:solidFill>
                <a:srgbClr val="4A2730"/>
              </a:solidFill>
            </a:endParaRPr>
          </a:p>
        </p:txBody>
      </p:sp>
      <p:sp>
        <p:nvSpPr>
          <p:cNvPr id="13" name="Téglalap 12">
            <a:extLst xmlns:a="http://schemas.openxmlformats.org/drawingml/2006/main">
              <a:ext uri="{FF2B5EF4-FFF2-40B4-BE49-F238E27FC236}">
                <a16:creationId xmlns:a16="http://schemas.microsoft.com/office/drawing/2014/main" id="{95A780F4-E39C-4E0B-B88C-0D182A52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72200"/>
            <a:ext cx="651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" name="Kép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ba4f8e5b2401f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6457950"/>
            <a:ext cx="1619250" cy="1619250"/>
          </a:xfrm>
          <a:prstGeom xmlns:a="http://schemas.openxmlformats.org/drawingml/2006/main" prst="ellipse">
            <a:avLst/>
          </a:prstGeom>
        </p:spPr>
      </p:pic>
      <p:sp>
        <p:nvSpPr>
          <p:cNvPr id="15" name="Téglalap 14">
            <a:extLst xmlns:a="http://schemas.openxmlformats.org/drawingml/2006/main">
              <a:ext uri="{FF2B5EF4-FFF2-40B4-BE49-F238E27FC236}">
                <a16:creationId xmlns:a16="http://schemas.microsoft.com/office/drawing/2014/main" id="{E0186A54-1E0E-4D39-9124-BAE8F181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19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941334"/>
                </a:solidFill>
              </a:defRPr>
            </a:pPr>
            <a:r>
              <a:rPr sz="2025" b="1">
                <a:solidFill>
                  <a:srgbClr val="941334"/>
                </a:solidFill>
              </a:rPr>
              <a:t>Cukrászat, keksz és édesség</a:t>
            </a:r>
          </a:p>
        </p:txBody>
      </p:sp>
      <p:sp>
        <p:nvSpPr>
          <p:cNvPr id="16" name="Téglalap 15">
            <a:extLst xmlns:a="http://schemas.openxmlformats.org/drawingml/2006/main">
              <a:ext uri="{FF2B5EF4-FFF2-40B4-BE49-F238E27FC236}">
                <a16:creationId xmlns:a16="http://schemas.microsoft.com/office/drawing/2014/main" id="{858D422D-E533-4409-A48A-070CCFF8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8484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76D3E"/>
                </a:solidFill>
              </a:defRPr>
            </a:pPr>
            <a:r>
              <a:rPr sz="1425" b="1">
                <a:solidFill>
                  <a:srgbClr val="376D3E"/>
                </a:solidFill>
              </a:rPr>
              <a:t>Gyümölcs töltelékes kekszek, gyümölcsös cukrász sütemények</a:t>
            </a:r>
          </a:p>
        </p:txBody>
      </p:sp>
      <p:sp>
        <p:nvSpPr>
          <p:cNvPr id="17" name="Téglalap 16">
            <a:extLst xmlns:a="http://schemas.openxmlformats.org/drawingml/2006/main">
              <a:ext uri="{FF2B5EF4-FFF2-40B4-BE49-F238E27FC236}">
                <a16:creationId xmlns:a16="http://schemas.microsoft.com/office/drawing/2014/main" id="{8529AF4A-4BC7-455C-8218-F968C01E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62557"/>
            <a:ext cx="4333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A2730"/>
                </a:solidFill>
              </a:defRPr>
            </a:pPr>
            <a:r>
              <a:rPr sz="1575" b="0">
                <a:solidFill>
                  <a:srgbClr val="4A2730"/>
                </a:solidFill>
              </a:rPr>
              <a:t>Ízek: sárgabarack, szilva, meggy, egyedi fejlesztésben málna, ribizli és bogyós gyümölcsök</a:t>
            </a:r>
            <a:endParaRPr sz="1575" b="0">
              <a:solidFill>
                <a:srgbClr val="4A2730"/>
              </a:solidFill>
            </a:endParaRPr>
          </a:p>
        </p:txBody>
      </p:sp>
      <p:sp>
        <p:nvSpPr>
          <p:cNvPr id="21" name="Téglalap 20">
            <a:extLst xmlns:a="http://schemas.openxmlformats.org/drawingml/2006/main">
              <a:ext uri="{FF2B5EF4-FFF2-40B4-BE49-F238E27FC236}">
                <a16:creationId xmlns:a16="http://schemas.microsoft.com/office/drawing/2014/main" id="{119E7F9F-A7C3-4836-A57A-1B26270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9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35F5B"/>
                </a:solidFill>
              </a:defRPr>
            </a:pPr>
            <a:r>
              <a:rPr sz="825" b="1">
                <a:solidFill>
                  <a:srgbClr val="735F5B"/>
                </a:solidFill>
              </a:rPr>
              <a:t>SUN VALLEY ZRT.   •   B2B GYÜMÖLCSTÖLTELÉKEK</a:t>
            </a:r>
          </a:p>
        </p:txBody>
      </p:sp>
      <p:sp>
        <p:nvSpPr>
          <p:cNvPr id="22" name="Téglalap 21">
            <a:extLst xmlns:a="http://schemas.openxmlformats.org/drawingml/2006/main">
              <a:ext uri="{FF2B5EF4-FFF2-40B4-BE49-F238E27FC236}">
                <a16:creationId xmlns:a16="http://schemas.microsoft.com/office/drawing/2014/main" id="{CE7C6A3F-F1D2-46BF-826F-183C5813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277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941334"/>
                </a:solidFill>
              </a:defRPr>
            </a:pPr>
            <a:r>
              <a:rPr sz="900" b="1">
                <a:solidFill>
                  <a:srgbClr val="94133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71373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Kép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8e9fc2fda45ac"/>
          <a:srcRect xmlns:a="http://schemas.openxmlformats.org/drawingml/2006/main" l="20798" t="0" r="207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86313" y="0"/>
            <a:ext cx="2776538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Téglalap 1">
            <a:extLst xmlns:a="http://schemas.openxmlformats.org/drawingml/2006/main">
              <a:ext uri="{FF2B5EF4-FFF2-40B4-BE49-F238E27FC236}">
                <a16:creationId xmlns:a16="http://schemas.microsoft.com/office/drawing/2014/main" id="{A216DAB2-C22A-4152-B16C-1FE8FA9F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" y="-1"/>
            <a:ext cx="476250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églalap 2">
            <a:extLst xmlns:a="http://schemas.openxmlformats.org/drawingml/2006/main">
              <a:ext uri="{FF2B5EF4-FFF2-40B4-BE49-F238E27FC236}">
                <a16:creationId xmlns:a16="http://schemas.microsoft.com/office/drawing/2014/main" id="{4BF34628-89DC-47B1-9EAF-9FD7B63A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59A2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D59A22"/>
                </a:solidFill>
                <a:latin typeface="Calibri"/>
                <a:ea typeface="Calibri"/>
                <a:cs typeface="Calibri"/>
              </a:rPr>
              <a:t>EGYEDI RECEPTÚRA</a:t>
            </a:r>
          </a:p>
        </p:txBody>
      </p:sp>
      <p:sp>
        <p:nvSpPr>
          <p:cNvPr id="4" name="Téglalap 3">
            <a:extLst xmlns:a="http://schemas.openxmlformats.org/drawingml/2006/main">
              <a:ext uri="{FF2B5EF4-FFF2-40B4-BE49-F238E27FC236}">
                <a16:creationId xmlns:a16="http://schemas.microsoft.com/office/drawing/2014/main" id="{5EFC568E-F1E5-41A5-9C2F-2C5EDCEA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A </a:t>
            </a:r>
            <a:r>
              <a:rPr sz="3150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problémától</a:t>
            </a:r>
            <a:endParaRPr sz="2000" b="1">
              <a:solidFill>
                <a:srgbClr val="FFFDF8"/>
              </a:solidFill>
            </a:endParaRPr>
          </a:p>
          <a:p xmlns:a="http://schemas.openxmlformats.org/drawingml/2006/main">
            <a:pPr algn="l">
              <a:buNone/>
              <a:defRPr sz="3150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a </a:t>
            </a:r>
            <a:r>
              <a:rPr sz="3150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specifikációig</a:t>
            </a:r>
            <a:r>
              <a:rPr sz="3150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Téglalap 4">
            <a:extLst xmlns:a="http://schemas.openxmlformats.org/drawingml/2006/main">
              <a:ext uri="{FF2B5EF4-FFF2-40B4-BE49-F238E27FC236}">
                <a16:creationId xmlns:a16="http://schemas.microsoft.com/office/drawing/2014/main" id="{4A381D08-E9A9-4611-A1E7-BE91366F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llipszis 5">
            <a:extLst xmlns:a="http://schemas.openxmlformats.org/drawingml/2006/main">
              <a:ext uri="{FF2B5EF4-FFF2-40B4-BE49-F238E27FC236}">
                <a16:creationId xmlns:a16="http://schemas.microsoft.com/office/drawing/2014/main" id="{3E440D76-ABB8-4A65-BBFC-0DC7D64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9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églalap 6">
            <a:extLst xmlns:a="http://schemas.openxmlformats.org/drawingml/2006/main">
              <a:ext uri="{FF2B5EF4-FFF2-40B4-BE49-F238E27FC236}">
                <a16:creationId xmlns:a16="http://schemas.microsoft.com/office/drawing/2014/main" id="{230BF02E-ACF9-44B2-8913-56E453CA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59A22"/>
                </a:solidFill>
              </a:defRPr>
            </a:pPr>
            <a:r>
              <a:rPr sz="1500" b="1">
                <a:solidFill>
                  <a:srgbClr val="D59A22"/>
                </a:solidFill>
              </a:rPr>
              <a:t>1</a:t>
            </a:r>
          </a:p>
        </p:txBody>
      </p:sp>
      <p:sp>
        <p:nvSpPr>
          <p:cNvPr id="8" name="Téglalap 7">
            <a:extLst xmlns:a="http://schemas.openxmlformats.org/drawingml/2006/main">
              <a:ext uri="{FF2B5EF4-FFF2-40B4-BE49-F238E27FC236}">
                <a16:creationId xmlns:a16="http://schemas.microsoft.com/office/drawing/2014/main" id="{15FFB1A2-6C65-44F1-A539-9506D5D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DF8"/>
                </a:solidFill>
              </a:defRPr>
            </a:pPr>
            <a:r>
              <a:rPr sz="1800" b="1">
                <a:solidFill>
                  <a:srgbClr val="FFFDF8"/>
                </a:solidFill>
              </a:rPr>
              <a:t>Konzultáció</a:t>
            </a:r>
            <a:endParaRPr sz="1800" b="1">
              <a:solidFill>
                <a:srgbClr val="FFFDF8"/>
              </a:solidFill>
            </a:endParaRPr>
          </a:p>
        </p:txBody>
      </p:sp>
      <p:sp>
        <p:nvSpPr>
          <p:cNvPr id="9" name="Téglalap 8">
            <a:extLst xmlns:a="http://schemas.openxmlformats.org/drawingml/2006/main">
              <a:ext uri="{FF2B5EF4-FFF2-40B4-BE49-F238E27FC236}">
                <a16:creationId xmlns:a16="http://schemas.microsoft.com/office/drawing/2014/main" id="{498B511A-5E7C-4C1B-B07C-8408412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4DCCB"/>
                </a:solidFill>
              </a:defRPr>
            </a:pPr>
            <a:r>
              <a:rPr sz="1350" b="0">
                <a:solidFill>
                  <a:srgbClr val="F4DCCB"/>
                </a:solidFill>
              </a:rPr>
              <a:t>Igények és specifikációk felmérése</a:t>
            </a:r>
            <a:endParaRPr sz="1350" b="0">
              <a:solidFill>
                <a:srgbClr val="F4DCCB"/>
              </a:solidFill>
            </a:endParaRPr>
          </a:p>
        </p:txBody>
      </p:sp>
      <p:sp>
        <p:nvSpPr>
          <p:cNvPr id="10" name="Ellipszis 9">
            <a:extLst xmlns:a="http://schemas.openxmlformats.org/drawingml/2006/main">
              <a:ext uri="{FF2B5EF4-FFF2-40B4-BE49-F238E27FC236}">
                <a16:creationId xmlns:a16="http://schemas.microsoft.com/office/drawing/2014/main" id="{0F2C4098-C357-4FFF-925C-688355B2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9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églalap 10">
            <a:extLst xmlns:a="http://schemas.openxmlformats.org/drawingml/2006/main">
              <a:ext uri="{FF2B5EF4-FFF2-40B4-BE49-F238E27FC236}">
                <a16:creationId xmlns:a16="http://schemas.microsoft.com/office/drawing/2014/main" id="{D16A20AE-34D3-4187-956C-DE4850E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59A22"/>
                </a:solidFill>
              </a:defRPr>
            </a:pPr>
            <a:r>
              <a:rPr sz="1500" b="1">
                <a:solidFill>
                  <a:srgbClr val="D59A22"/>
                </a:solidFill>
              </a:rPr>
              <a:t>2</a:t>
            </a:r>
          </a:p>
        </p:txBody>
      </p:sp>
      <p:sp>
        <p:nvSpPr>
          <p:cNvPr id="12" name="Téglalap 11">
            <a:extLst xmlns:a="http://schemas.openxmlformats.org/drawingml/2006/main">
              <a:ext uri="{FF2B5EF4-FFF2-40B4-BE49-F238E27FC236}">
                <a16:creationId xmlns:a16="http://schemas.microsoft.com/office/drawing/2014/main" id="{D821A373-6962-41E9-8FCD-3B1D739F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DF8"/>
                </a:solidFill>
              </a:defRPr>
            </a:pPr>
            <a:r>
              <a:rPr sz="1800" b="1">
                <a:solidFill>
                  <a:srgbClr val="FFFDF8"/>
                </a:solidFill>
              </a:rPr>
              <a:t>Laborprototípus</a:t>
            </a:r>
          </a:p>
        </p:txBody>
      </p:sp>
      <p:sp>
        <p:nvSpPr>
          <p:cNvPr id="13" name="Téglalap 12">
            <a:extLst xmlns:a="http://schemas.openxmlformats.org/drawingml/2006/main">
              <a:ext uri="{FF2B5EF4-FFF2-40B4-BE49-F238E27FC236}">
                <a16:creationId xmlns:a16="http://schemas.microsoft.com/office/drawing/2014/main" id="{494EDDFB-B244-4FAA-8A2B-8943815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4DCCB"/>
                </a:solidFill>
              </a:defRPr>
            </a:pPr>
            <a:r>
              <a:rPr sz="1350">
                <a:solidFill>
                  <a:srgbClr val="F4DCCB"/>
                </a:solidFill>
              </a:rPr>
              <a:t>R</a:t>
            </a:r>
            <a:r>
              <a:rPr sz="1350" b="0">
                <a:solidFill>
                  <a:srgbClr val="F4DCCB"/>
                </a:solidFill>
              </a:rPr>
              <a:t>eceptúra</a:t>
            </a:r>
            <a:r>
              <a:rPr sz="1350" b="0">
                <a:solidFill>
                  <a:srgbClr val="F4DCCB"/>
                </a:solidFill>
              </a:rPr>
              <a:t> </a:t>
            </a:r>
            <a:r>
              <a:rPr sz="1350" b="0">
                <a:solidFill>
                  <a:srgbClr val="F4DCCB"/>
                </a:solidFill>
              </a:rPr>
              <a:t>és</a:t>
            </a:r>
            <a:r>
              <a:rPr sz="1350" b="0">
                <a:solidFill>
                  <a:srgbClr val="F4DCCB"/>
                </a:solidFill>
              </a:rPr>
              <a:t> </a:t>
            </a:r>
            <a:r>
              <a:rPr sz="1350" b="0">
                <a:solidFill>
                  <a:srgbClr val="F4DCCB"/>
                </a:solidFill>
              </a:rPr>
              <a:t>referencia-minta</a:t>
            </a:r>
            <a:r>
              <a:rPr sz="1350" b="0">
                <a:solidFill>
                  <a:srgbClr val="F4DCCB"/>
                </a:solidFill>
              </a:rPr>
              <a:t> gyártás</a:t>
            </a:r>
            <a:endParaRPr sz="1350" b="0">
              <a:solidFill>
                <a:srgbClr val="F4DCCB"/>
              </a:solidFill>
            </a:endParaRPr>
          </a:p>
        </p:txBody>
      </p:sp>
      <p:sp>
        <p:nvSpPr>
          <p:cNvPr id="14" name="Ellipszis 13">
            <a:extLst xmlns:a="http://schemas.openxmlformats.org/drawingml/2006/main">
              <a:ext uri="{FF2B5EF4-FFF2-40B4-BE49-F238E27FC236}">
                <a16:creationId xmlns:a16="http://schemas.microsoft.com/office/drawing/2014/main" id="{AFBCBAE1-6761-45F9-9DE8-DB5F27D6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9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églalap 14">
            <a:extLst xmlns:a="http://schemas.openxmlformats.org/drawingml/2006/main">
              <a:ext uri="{FF2B5EF4-FFF2-40B4-BE49-F238E27FC236}">
                <a16:creationId xmlns:a16="http://schemas.microsoft.com/office/drawing/2014/main" id="{DA5E43A5-709B-400A-A85F-FF8B5BC6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59A22"/>
                </a:solidFill>
              </a:defRPr>
            </a:pPr>
            <a:r>
              <a:rPr sz="1500" b="1">
                <a:solidFill>
                  <a:srgbClr val="D59A22"/>
                </a:solidFill>
              </a:rPr>
              <a:t>3</a:t>
            </a:r>
          </a:p>
        </p:txBody>
      </p:sp>
      <p:sp>
        <p:nvSpPr>
          <p:cNvPr id="16" name="Téglalap 15">
            <a:extLst xmlns:a="http://schemas.openxmlformats.org/drawingml/2006/main">
              <a:ext uri="{FF2B5EF4-FFF2-40B4-BE49-F238E27FC236}">
                <a16:creationId xmlns:a16="http://schemas.microsoft.com/office/drawing/2014/main" id="{ADAB09C3-A545-4871-84CC-A7AD3C61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DF8"/>
                </a:solidFill>
              </a:defRPr>
            </a:pPr>
            <a:r>
              <a:rPr b="1">
                <a:solidFill>
                  <a:srgbClr val="FFFDF8"/>
                </a:solidFill>
              </a:rPr>
              <a:t>Tesztelés</a:t>
            </a:r>
            <a:endParaRPr sz="1800" b="1">
              <a:solidFill>
                <a:srgbClr val="FFFDF8"/>
              </a:solidFill>
            </a:endParaRPr>
          </a:p>
        </p:txBody>
      </p:sp>
      <p:sp>
        <p:nvSpPr>
          <p:cNvPr id="17" name="Téglalap 16">
            <a:extLst xmlns:a="http://schemas.openxmlformats.org/drawingml/2006/main">
              <a:ext uri="{FF2B5EF4-FFF2-40B4-BE49-F238E27FC236}">
                <a16:creationId xmlns:a16="http://schemas.microsoft.com/office/drawing/2014/main" id="{2A917657-E499-4ED9-8EE5-E3BA1579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4DCCB"/>
                </a:solidFill>
              </a:defRPr>
            </a:pPr>
            <a:r>
              <a:rPr sz="1350">
                <a:solidFill>
                  <a:srgbClr val="F4DCCB"/>
                </a:solidFill>
              </a:rPr>
              <a:t>Elkészült minta átadása tesztelésre</a:t>
            </a:r>
            <a:endParaRPr sz="1350" b="0">
              <a:solidFill>
                <a:srgbClr val="F4DCCB"/>
              </a:solidFill>
            </a:endParaRPr>
          </a:p>
        </p:txBody>
      </p:sp>
      <p:sp>
        <p:nvSpPr>
          <p:cNvPr id="18" name="Ellipszis 17">
            <a:extLst xmlns:a="http://schemas.openxmlformats.org/drawingml/2006/main">
              <a:ext uri="{FF2B5EF4-FFF2-40B4-BE49-F238E27FC236}">
                <a16:creationId xmlns:a16="http://schemas.microsoft.com/office/drawing/2014/main" id="{D1EE6346-4303-4DE7-83F3-B67C2448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9A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églalap 18">
            <a:extLst xmlns:a="http://schemas.openxmlformats.org/drawingml/2006/main">
              <a:ext uri="{FF2B5EF4-FFF2-40B4-BE49-F238E27FC236}">
                <a16:creationId xmlns:a16="http://schemas.microsoft.com/office/drawing/2014/main" id="{162C282F-E5E6-4BCC-9D10-4726A6F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59A22"/>
                </a:solidFill>
              </a:defRPr>
            </a:pPr>
            <a:r>
              <a:rPr sz="1500" b="1">
                <a:solidFill>
                  <a:srgbClr val="D59A22"/>
                </a:solidFill>
              </a:rPr>
              <a:t>4</a:t>
            </a:r>
          </a:p>
        </p:txBody>
      </p:sp>
      <p:sp>
        <p:nvSpPr>
          <p:cNvPr id="20" name="Téglalap 19">
            <a:extLst xmlns:a="http://schemas.openxmlformats.org/drawingml/2006/main">
              <a:ext uri="{FF2B5EF4-FFF2-40B4-BE49-F238E27FC236}">
                <a16:creationId xmlns:a16="http://schemas.microsoft.com/office/drawing/2014/main" id="{AB0F0BBB-BD76-4B99-AF44-810E5A8A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530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DF8"/>
                </a:solidFill>
              </a:defRPr>
            </a:pPr>
            <a:endParaRPr sz="1800" b="1">
              <a:solidFill>
                <a:srgbClr val="FFFDF8"/>
              </a:solidFill>
            </a:endParaRPr>
          </a:p>
        </p:txBody>
      </p:sp>
      <p:sp>
        <p:nvSpPr>
          <p:cNvPr id="21" name="Téglalap 20">
            <a:extLst xmlns:a="http://schemas.openxmlformats.org/drawingml/2006/main">
              <a:ext uri="{FF2B5EF4-FFF2-40B4-BE49-F238E27FC236}">
                <a16:creationId xmlns:a16="http://schemas.microsoft.com/office/drawing/2014/main" id="{1E2B5156-5770-4C72-A312-012963D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959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4DCCB"/>
                </a:solidFill>
              </a:defRPr>
            </a:pPr>
            <a:r>
              <a:rPr sz="1350">
                <a:solidFill>
                  <a:srgbClr val="F4DCCB"/>
                </a:solidFill>
              </a:rPr>
              <a:t>jóváhagyás, kiszerelés és ellátási feltételek</a:t>
            </a:r>
          </a:p>
        </p:txBody>
      </p:sp>
      <p:sp>
        <p:nvSpPr>
          <p:cNvPr id="24" name="Téglalap 23">
            <a:extLst xmlns:a="http://schemas.openxmlformats.org/drawingml/2006/main">
              <a:ext uri="{FF2B5EF4-FFF2-40B4-BE49-F238E27FC236}">
                <a16:creationId xmlns:a16="http://schemas.microsoft.com/office/drawing/2014/main" id="{D011AE39-2CEC-415E-9F88-1BEB9981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530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DF8"/>
                </a:solidFill>
              </a:defRPr>
            </a:pPr>
            <a:r>
              <a:rPr b="1">
                <a:solidFill>
                  <a:srgbClr val="FFFDF8"/>
                </a:solidFill>
              </a:rPr>
              <a:t>Kiértékelés </a:t>
            </a:r>
            <a:endParaRPr sz="1800" b="1">
              <a:solidFill>
                <a:srgbClr val="FFFDF8"/>
              </a:solidFill>
            </a:endParaRPr>
          </a:p>
        </p:txBody>
      </p:sp>
      <p:sp>
        <p:nvSpPr>
          <p:cNvPr id="26" name="Lekerekített téglalap 25">
            <a:extLst xmlns:a="http://schemas.openxmlformats.org/drawingml/2006/main">
              <a:ext uri="{FF2B5EF4-FFF2-40B4-BE49-F238E27FC236}">
                <a16:creationId xmlns:a16="http://schemas.microsoft.com/office/drawing/2014/main" id="{A2C0DA37-F6FA-40FB-97EA-22894478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00950"/>
            <a:ext cx="3714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51224"/>
          </a:solidFill>
          <a:ln xmlns:a="http://schemas.openxmlformats.org/drawingml/2006/main" w="9525">
            <a:solidFill>
              <a:srgbClr val="B954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églalap 26">
            <a:extLst xmlns:a="http://schemas.openxmlformats.org/drawingml/2006/main">
              <a:ext uri="{FF2B5EF4-FFF2-40B4-BE49-F238E27FC236}">
                <a16:creationId xmlns:a16="http://schemas.microsoft.com/office/drawing/2014/main" id="{4735FEC0-F1C3-47D5-A2DB-15E7353A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533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D59A22"/>
                </a:solidFill>
              </a:defRPr>
            </a:pPr>
            <a:r>
              <a:rPr sz="1800" b="1">
                <a:solidFill>
                  <a:srgbClr val="D59A22"/>
                </a:solidFill>
              </a:rPr>
              <a:t>Tipikus fejlesztési idő: 2–3 hónap</a:t>
            </a:r>
          </a:p>
        </p:txBody>
      </p:sp>
      <p:sp>
        <p:nvSpPr>
          <p:cNvPr id="29" name="Téglalap 28">
            <a:extLst xmlns:a="http://schemas.openxmlformats.org/drawingml/2006/main">
              <a:ext uri="{FF2B5EF4-FFF2-40B4-BE49-F238E27FC236}">
                <a16:creationId xmlns:a16="http://schemas.microsoft.com/office/drawing/2014/main" id="{FDADC1B8-67B3-42F7-BA25-B3C48A2C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3DCCB"/>
                </a:solidFill>
              </a:defRPr>
            </a:pPr>
            <a:r>
              <a:rPr sz="1350" b="1">
                <a:solidFill>
                  <a:srgbClr val="F3DCCB"/>
                </a:solidFill>
              </a:rPr>
              <a:t>[KAPCSOLATTARTÓ]</a:t>
            </a:r>
          </a:p>
          <a:p xmlns:a="http://schemas.openxmlformats.org/drawingml/2006/main">
            <a:pPr>
              <a:buNone/>
              <a:defRPr sz="1350" b="1">
                <a:solidFill>
                  <a:srgbClr val="F3DCCB"/>
                </a:solidFill>
              </a:defRPr>
            </a:pPr>
            <a:r>
              <a:rPr sz="1350" b="1">
                <a:solidFill>
                  <a:srgbClr val="F3DCCB"/>
                </a:solidFill>
              </a:rPr>
              <a:t>[E-MAIL]  •  [TELEFON]  •  [WEBOLDAL]</a:t>
            </a:r>
          </a:p>
        </p:txBody>
      </p:sp>
      <p:pic>
        <p:nvPicPr>
          <p:cNvPr id="61" name="Kép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9ec4b5d0e48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3475" y="1752600"/>
            <a:ext cx="1905000" cy="1905000"/>
          </a:xfrm>
          <a:prstGeom xmlns:a="http://schemas.openxmlformats.org/drawingml/2006/main" prst="ellipse">
            <a:avLst/>
          </a:prstGeom>
        </p:spPr>
      </p:pic>
      <p:sp>
        <p:nvSpPr>
          <p:cNvPr id="31" name="Téglalap 30">
            <a:extLst xmlns:a="http://schemas.openxmlformats.org/drawingml/2006/main">
              <a:ext uri="{FF2B5EF4-FFF2-40B4-BE49-F238E27FC236}">
                <a16:creationId xmlns:a16="http://schemas.microsoft.com/office/drawing/2014/main" id="{E8E190AB-EFB8-4C5D-9C36-7BC0D20A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8582025"/>
            <a:ext cx="20859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A2336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7A2336"/>
                </a:solidFill>
                <a:latin typeface="Calibri"/>
                <a:ea typeface="Calibri"/>
                <a:cs typeface="Calibri"/>
              </a:rPr>
              <a:t>Ipari gyümölcstöltelékek az Ön gyártási technológiájára optimalizálva.</a:t>
            </a:r>
          </a:p>
        </p:txBody>
      </p:sp>
      <p:sp>
        <p:nvSpPr>
          <p:cNvPr id="32" name="Téglalap 31">
            <a:extLst xmlns:a="http://schemas.openxmlformats.org/drawingml/2006/main">
              <a:ext uri="{FF2B5EF4-FFF2-40B4-BE49-F238E27FC236}">
                <a16:creationId xmlns:a16="http://schemas.microsoft.com/office/drawing/2014/main" id="{922B22DC-C68E-479E-9232-61690A14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9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3D7C2"/>
                </a:solidFill>
              </a:defRPr>
            </a:pPr>
            <a:r>
              <a:rPr sz="825" b="1">
                <a:solidFill>
                  <a:srgbClr val="F3D7C2"/>
                </a:solidFill>
              </a:rPr>
              <a:t>SUN VALLEY ZRT.   </a:t>
            </a:r>
          </a:p>
        </p:txBody>
      </p:sp>
      <p:sp>
        <p:nvSpPr>
          <p:cNvPr id="33" name="Téglalap 32">
            <a:extLst xmlns:a="http://schemas.openxmlformats.org/drawingml/2006/main">
              <a:ext uri="{FF2B5EF4-FFF2-40B4-BE49-F238E27FC236}">
                <a16:creationId xmlns:a16="http://schemas.microsoft.com/office/drawing/2014/main" id="{09851A4E-70E2-4BC7-B0F4-CEC3EB08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277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59A22"/>
                </a:solidFill>
              </a:defRPr>
            </a:pPr>
            <a:r>
              <a:rPr sz="900" b="1">
                <a:solidFill>
                  <a:srgbClr val="D59A2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2979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2026-08-31T09:55:23.0790000Z</dcterms:created>
  <dcterms:modified xsi:type="dcterms:W3CDTF">2026-08-31T09:55:23.0790000Z</dcterms:modified>
</coreProperties>
</file>